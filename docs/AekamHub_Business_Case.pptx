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MRR (₹)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Month 1–2</c:v>
                  </c:pt>
                  <c:pt idx="1">
                    <c:v>Month 3–4</c:v>
                  </c:pt>
                  <c:pt idx="2">
                    <c:v>Month 5–6</c:v>
                  </c:pt>
                  <c:pt idx="3">
                    <c:v>Month 7–9</c:v>
                  </c:pt>
                  <c:pt idx="4">
                    <c:v>Month 10–12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20000</c:v>
                </c:pt>
                <c:pt idx="1">
                  <c:v>45000</c:v>
                </c:pt>
                <c:pt idx="2">
                  <c:v>70000</c:v>
                </c:pt>
                <c:pt idx="3">
                  <c:v>105000</c:v>
                </c:pt>
                <c:pt idx="4">
                  <c:v>130000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AekamHub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Marketing Portal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your brand meets AI, configured by experts.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Aekam Inc  •  July 2026  •  Confidential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agencies are losing clients in 2026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2468880" cy="1645920"/>
          </a:xfrm>
          <a:prstGeom prst="roundRect">
            <a:avLst>
              <a:gd name="adj" fmla="val 555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916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departing clients cite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dissatisfaction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0" y="1554480"/>
            <a:ext cx="2468880" cy="1645920"/>
          </a:xfrm>
          <a:prstGeom prst="roundRect">
            <a:avLst>
              <a:gd name="adj" fmla="val 555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6916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657600" y="23774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small businesses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invested in AI tools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554480"/>
            <a:ext cx="2468880" cy="1645920"/>
          </a:xfrm>
          <a:prstGeom prst="roundRect">
            <a:avLst>
              <a:gd name="adj" fmla="val 555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6916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400800" y="23774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marketing agencies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Ahmedabad alone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4747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₹1,500–₹3,000/month (ChatGPT + Canva + Buffer), a business owner can now replicate what agencies charge ₹15,000–₹20,000 for.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Aekam lost 5–6 clients paying ₹15–20K/month because they discovered DIY AI tools.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Insight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1828800"/>
          </a:xfrm>
          <a:prstGeom prst="roundRect">
            <a:avLst>
              <a:gd name="adj" fmla="val 7500"/>
            </a:avLst>
          </a:prstGeom>
          <a:solidFill>
            <a:srgbClr val="2D4A6F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37160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clients don't want to spend their evenings writing captions.
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want </a:t>
            </a:r>
            <a:pPr indent="0" marL="0">
              <a:buNone/>
            </a:pPr>
            <a:r>
              <a:rPr lang="en-US" sz="18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pPr indent="0" marL="0">
              <a:buNone/>
            </a:pPr>
            <a:r>
              <a:rPr lang="en-US" sz="18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indent="0" marL="0">
              <a:buNone/>
            </a:pPr>
            <a:r>
              <a:rPr lang="en-US" sz="18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for money.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AekamHub gives both — AI does the execution, Aekam's brand intelligence ensures quality.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switching cost is the months of brand configuration, trained agents, content strategy, and captured leads that Aekam builds into each workspace.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Vision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white-labeled AI marketing portal where Aekam configures the intelligence, and clients generate the output.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3657600" cy="2926080"/>
          </a:xfrm>
          <a:prstGeom prst="roundRect">
            <a:avLst>
              <a:gd name="adj" fmla="val 3125"/>
            </a:avLst>
          </a:prstGeom>
          <a:solidFill>
            <a:srgbClr val="EFF6F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91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1: Aekam (Setup &amp; Strategy)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3291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 brand: logo, colors, fonts, tone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custom AI agents per brand voice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content strategy templates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industry-specific knowledge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Continuously refine based on performance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554480"/>
            <a:ext cx="3657600" cy="2926080"/>
          </a:xfrm>
          <a:prstGeom prst="roundRect">
            <a:avLst>
              <a:gd name="adj" fmla="val 3125"/>
            </a:avLst>
          </a:prstGeom>
          <a:solidFill>
            <a:srgbClr val="ECFDF5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691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2: Client (Self-Service)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2148840"/>
            <a:ext cx="3291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into branded subdomain dashboard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"Generate this week's posts"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7 on-brand posts in 3–5 seconds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Review, edit, approve, schedule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from one branded portal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Positioning</a:t>
            </a:r>
            <a:endParaRPr lang="en-US" sz="3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76809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2103120"/>
                <a:gridCol w="21031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Dimension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DIY Tools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Traditional Agency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AekamHub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Monthly cost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₹1,500–3,000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₹15,000–50,000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₹10,000–20,000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Brand voice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Maybe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 — built 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Self-service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 (generic)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 (brand-aware)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Chatbot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Rarely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 (Growth+)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Switching cost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Time/day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2–4 hours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(agency)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15–30 min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AekamHub occupies the white space between "too cheap and generic" and "too expensive and opaque."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Feature: AI Content Agents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Intelligence Engine ensures every generation sounds like the client.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2468880" cy="1417320"/>
          </a:xfrm>
          <a:prstGeom prst="roundRect">
            <a:avLst>
              <a:gd name="adj" fmla="val 6452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5727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Media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Instagram, LinkedIn, FB,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Twitter + hashtags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Starter+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0" y="1463040"/>
            <a:ext cx="2468880" cy="1417320"/>
          </a:xfrm>
          <a:prstGeom prst="roundRect">
            <a:avLst>
              <a:gd name="adj" fmla="val 6452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0" y="15727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Blog Writing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0" y="19202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SEO-optimized 500–1,500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posts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0" y="2514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Starter+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463040"/>
            <a:ext cx="2468880" cy="1417320"/>
          </a:xfrm>
          <a:prstGeom prst="roundRect">
            <a:avLst>
              <a:gd name="adj" fmla="val 6452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0" y="15727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Copy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19202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Meta/Google ad variants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A/B hooks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0" y="2514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Starter+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3154680"/>
            <a:ext cx="2468880" cy="1417320"/>
          </a:xfrm>
          <a:prstGeom prst="roundRect">
            <a:avLst>
              <a:gd name="adj" fmla="val 6452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32644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Marketing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36118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drafts, drip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4206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Growth+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74720" y="3154680"/>
            <a:ext cx="2468880" cy="1417320"/>
          </a:xfrm>
          <a:prstGeom prst="roundRect">
            <a:avLst>
              <a:gd name="adj" fmla="val 6452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57600" y="32644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Biz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657600" y="36118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Broadcast messages,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 descriptions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0" y="4206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Growth+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3154680"/>
            <a:ext cx="2468880" cy="1417320"/>
          </a:xfrm>
          <a:prstGeom prst="roundRect">
            <a:avLst>
              <a:gd name="adj" fmla="val 6452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00800" y="32644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Magnet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0" y="36118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Ebook outlines, landing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copy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0" y="4206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Growth+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Features: Chatbot &amp; Brand Intelligence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3657600" cy="3291840"/>
          </a:xfrm>
          <a:prstGeom prst="roundRect">
            <a:avLst>
              <a:gd name="adj" fmla="val 2778"/>
            </a:avLst>
          </a:prstGeom>
          <a:solidFill>
            <a:srgbClr val="EFF6FF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234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Intelligence Engine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moat. Aekam configures: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voice &amp; tone documentation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identity (colors, fonts, logo)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audience personas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list &amp; industry terms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pillars &amp; platform rules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AI call includes this as context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657600" cy="3291840"/>
          </a:xfrm>
          <a:prstGeom prst="roundRect">
            <a:avLst>
              <a:gd name="adj" fmla="val 2778"/>
            </a:avLst>
          </a:prstGeom>
          <a:solidFill>
            <a:srgbClr val="ECFDF5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234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Chatbot (Growth+)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1645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RAG-powered, deployed on website/WhatsApp: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196596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FAQs 24/7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 leads automatically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Books appointments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English, Hindi, Gujarati support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pgvector knowledge base retrieval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Improves over time — leaving = losing months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Architecture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app, infinite clients. Zero per-client infrastructure cost.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7680960" cy="475488"/>
          </a:xfrm>
          <a:prstGeom prst="roundRect">
            <a:avLst>
              <a:gd name="adj" fmla="val 9615"/>
            </a:avLst>
          </a:prstGeom>
          <a:solidFill>
            <a:srgbClr val="F8FAF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630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560320" y="14630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on Vercel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0" y="14630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Wildcard *.kartavaya.com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1947672"/>
            <a:ext cx="768096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99339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60320" y="199339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on Railway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03520" y="199339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routing, auth, RLS middleware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2478024"/>
            <a:ext cx="7680960" cy="475488"/>
          </a:xfrm>
          <a:prstGeom prst="roundRect">
            <a:avLst>
              <a:gd name="adj" fmla="val 9615"/>
            </a:avLst>
          </a:prstGeom>
          <a:solidFill>
            <a:srgbClr val="F8FAFC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52374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60320" y="252374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PostgreSQL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03520" y="252374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RLS isolation, pgvector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008376"/>
            <a:ext cx="768096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05409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560320" y="305409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 R2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03520" y="305409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Assets, generated content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3538728"/>
            <a:ext cx="7680960" cy="475488"/>
          </a:xfrm>
          <a:prstGeom prst="roundRect">
            <a:avLst>
              <a:gd name="adj" fmla="val 9615"/>
            </a:avLst>
          </a:prstGeom>
          <a:solidFill>
            <a:srgbClr val="F8FAFC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5844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560320" y="358444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Multi-provider routing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03520" y="358444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Gemini, Groq, OpenRouter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1520" y="4069080"/>
            <a:ext cx="768096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1148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560320" y="41148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SES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03520" y="41148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Transactional + marketing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1520" y="46177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components reuse existing Kartavya infrastructure. No new technology to learn.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Strategy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Multi-provider routing — not locked into any single vendor.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76809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1828800"/>
                <a:gridCol w="20116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Primary Model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Cost/1M Tokens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Fallback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Social posts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Gemini 2.5 Flash-Lite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$0.10 / $0.40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Llama 3.3 via Groq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Blog posts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Gemini 2.5 Flash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$0.15 / $0.60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Mistral Small 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 copy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Gemini 2.5 Flash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$0.15 / $0.60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Groq Llama 3.3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Chatbot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Gemini Flash-Lite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$0.10 / $0.40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Groq Llama 3.2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Image analysis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Gemini Flash (vision)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$0.15 / $0.60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Mistral Medium 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36576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any provider raises prices or goes down, switch with one config change — zero code change.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Credit System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 see credits, not tokens or API costs.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76809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188720"/>
                <a:gridCol w="1645920"/>
                <a:gridCol w="16459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Credits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Cost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Margin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Instagram/FB Post (3 variants)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₹0.02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LinkedIn Post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₹0.04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Blog Post (800–1,500 words)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₹0.15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 Copy (3 variants)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₹0.08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Email Campaign Draft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₹0.06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Chatbot Message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₹0.005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Content Calendar (7 posts)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₹0.12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Festival Campaign (5 posts)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₹0.15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1520" y="4206240"/>
            <a:ext cx="7680960" cy="548640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4251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Starter client using 958 credits/month costs Aekam ₹3.50 in API fees. Revenue: ₹10,000.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Pricing Tiers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2468880" cy="3474720"/>
          </a:xfrm>
          <a:prstGeom prst="roundRect">
            <a:avLst>
              <a:gd name="adj" fmla="val 5556"/>
            </a:avLst>
          </a:prstGeom>
          <a:solidFill>
            <a:srgbClr val="1A305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34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₹10,000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/month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423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 credits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834640"/>
            <a:ext cx="1920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Branded subdomain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AI Agents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Library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strategy call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support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1097280"/>
            <a:ext cx="2468880" cy="3474720"/>
          </a:xfrm>
          <a:prstGeom prst="roundRect">
            <a:avLst>
              <a:gd name="adj" fmla="val 5556"/>
            </a:avLst>
          </a:prstGeom>
          <a:solidFill>
            <a:srgbClr val="1A3050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234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74720" y="16459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₹15,000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74720" y="2103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/month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0" y="2423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1,500 credits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49040" y="2834640"/>
            <a:ext cx="1920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in Starter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All 6 AI Agents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AI Chatbot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All Skill Packs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Bi-weekly strategy call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097280"/>
            <a:ext cx="2468880" cy="3474720"/>
          </a:xfrm>
          <a:prstGeom prst="roundRect">
            <a:avLst>
              <a:gd name="adj" fmla="val 5556"/>
            </a:avLst>
          </a:prstGeom>
          <a:solidFill>
            <a:srgbClr val="1A3050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234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217920" y="16459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₹20,000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217920" y="2103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/month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2423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credits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92240" y="2834640"/>
            <a:ext cx="1920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in Growth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Custom AI agents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Dedicated strategist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Weekly strategy call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Priority support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Top-up: 500 credits for ₹500 (never expire)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Economics</a:t>
            </a:r>
            <a:endParaRPr lang="en-US" sz="3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76809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920240"/>
                <a:gridCol w="1920240"/>
                <a:gridCol w="19202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Starter (₹10K)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 (₹15K)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 (₹20K)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₹10,000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₹15,000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₹20,000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API Cost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~₹100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~₹200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~₹400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Infra (allocated)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~₹650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~₹650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~₹650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Staff Cost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~₹1,000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~₹2,000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~₹3,000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Cost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₹1,750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₹2,850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₹4,050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Gross Profit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₹8,250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₹12,150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₹15,950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Gross Margin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82.5%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79.8%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31520" y="3931920"/>
            <a:ext cx="3657600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31520" y="3977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₹8,050/mo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31520" y="4389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infra cost for 10 clients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754880" y="3931920"/>
            <a:ext cx="3657600" cy="91440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754880" y="3977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754880" y="4389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 at 10 clients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Projections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scenario — Year 1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1371600"/>
          <a:ext cx="50292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217920" y="1371600"/>
            <a:ext cx="2377440" cy="1280160"/>
          </a:xfrm>
          <a:prstGeom prst="roundRect">
            <a:avLst>
              <a:gd name="adj" fmla="val 7143"/>
            </a:avLst>
          </a:prstGeom>
          <a:solidFill>
            <a:srgbClr val="EFF6FF"/>
          </a:solidFill>
          <a:ln/>
        </p:spPr>
      </p:sp>
      <p:sp>
        <p:nvSpPr>
          <p:cNvPr id="6" name="Text 3"/>
          <p:cNvSpPr/>
          <p:nvPr/>
        </p:nvSpPr>
        <p:spPr>
          <a:xfrm>
            <a:off x="6217920" y="1463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 Revenue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217920" y="1737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₹10,80,000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17920" y="2194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clients by month 12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17920" y="2834640"/>
            <a:ext cx="2377440" cy="128016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/>
        </p:spPr>
      </p:sp>
      <p:sp>
        <p:nvSpPr>
          <p:cNvPr id="10" name="Text 7"/>
          <p:cNvSpPr/>
          <p:nvPr/>
        </p:nvSpPr>
        <p:spPr>
          <a:xfrm>
            <a:off x="6217920" y="2926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 Net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217920" y="3200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₹9,84,000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217920" y="3657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all costs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Kartavya Platform Integration</a:t>
            </a:r>
            <a:endParaRPr lang="en-US" sz="3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76809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017520"/>
                <a:gridCol w="30175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Module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Benefit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Chatbot leads → crm_contacts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Automatic lead capture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content → mkt_campaigns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Content feeds campaign engine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WhatsApp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Chatbot via WA module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WhatsApp chatbot + broadcasts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Subscription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AekamHub as add-on module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Same billing flow for directors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Analytics Pro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Performance dashboards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Content ROI, chatbot metrics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infrastructure: Same Supabase, R2, SES, Vercel, Railway. AekamHub adds a new schema — zero duplication.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Roadmap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weeks, 4 phases — built entirely on existing infrastructure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768096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508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MVP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1–6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91840" y="1536192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Auth, multi-tenant workspace, subdomain setup, Brand Engine, Social Agent, credit wallet, admin panel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331720"/>
            <a:ext cx="768096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2377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Core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697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7–12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0" y="2404872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Blog + Ad + Email agents, content library, approval workflow, calendar, Skill Packs, top-up flow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200400"/>
            <a:ext cx="768096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3246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Chatbot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3566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13–18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3273552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chatbot (pgvector + Gemini), WhatsApp integration, lead capture, knowledge base, analytics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4069080"/>
            <a:ext cx="768096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4114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4: Publish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4434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19–24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91840" y="4142232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Meta/LinkedIn direct publishing, scheduling, mobile app (Expo), GEO optimization, more Skill Packs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AekamHub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your brand meets AI, configured by experts.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71600" y="32004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371600" y="3749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840480" y="32004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₹10L+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840480" y="3749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 Revenue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9360" y="32004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wks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309360" y="3749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Full Product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Aekam Inc  •  kevalvshah03@gmail.com  •  Confidential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AekamHub — AI-Powered Marketing Portal</dc:title>
  <dc:subject>PptxGenJS Presentation</dc:subject>
  <dc:creator>Aekam Inc</dc:creator>
  <cp:lastModifiedBy>Aekam Inc</cp:lastModifiedBy>
  <cp:revision>1</cp:revision>
  <dcterms:created xsi:type="dcterms:W3CDTF">2026-07-05T08:14:25Z</dcterms:created>
  <dcterms:modified xsi:type="dcterms:W3CDTF">2026-07-05T08:14:25Z</dcterms:modified>
</cp:coreProperties>
</file>